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3"/>
          <p:cNvPicPr preferRelativeResize="0"/>
          <p:nvPr/>
        </p:nvPicPr>
        <p:blipFill rotWithShape="1">
          <a:blip r:embed="rId3">
            <a:alphaModFix/>
          </a:blip>
          <a:srcRect b="0" l="0" r="0" t="0"/>
          <a:stretch/>
        </p:blipFill>
        <p:spPr>
          <a:xfrm>
            <a:off x="546100" y="279400"/>
            <a:ext cx="11099800" cy="6299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4"/>
          <p:cNvPicPr preferRelativeResize="0"/>
          <p:nvPr/>
        </p:nvPicPr>
        <p:blipFill rotWithShape="1">
          <a:blip r:embed="rId3">
            <a:alphaModFix/>
          </a:blip>
          <a:srcRect b="0" l="0" r="0" t="0"/>
          <a:stretch/>
        </p:blipFill>
        <p:spPr>
          <a:xfrm>
            <a:off x="115454" y="180687"/>
            <a:ext cx="11827163" cy="634480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5"/>
          <p:cNvSpPr txBox="1"/>
          <p:nvPr/>
        </p:nvSpPr>
        <p:spPr>
          <a:xfrm>
            <a:off x="350260" y="350322"/>
            <a:ext cx="11491479" cy="637097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3400"/>
              <a:buFont typeface="Calibri"/>
              <a:buAutoNum type="arabicPeriod"/>
            </a:pPr>
            <a:r>
              <a:rPr b="0" i="0" lang="en-US" sz="3400" u="none" cap="none" strike="noStrike">
                <a:solidFill>
                  <a:schemeClr val="dk1"/>
                </a:solidFill>
                <a:latin typeface="Calibri"/>
                <a:ea typeface="Calibri"/>
                <a:cs typeface="Calibri"/>
                <a:sym typeface="Calibri"/>
              </a:rPr>
              <a:t>It is rainning, so I stay at home.</a:t>
            </a:r>
            <a:endParaRPr/>
          </a:p>
          <a:p>
            <a:pPr indent="-342900" lvl="0" marL="342900" marR="0" rtl="0" algn="l">
              <a:spcBef>
                <a:spcPts val="0"/>
              </a:spcBef>
              <a:spcAft>
                <a:spcPts val="0"/>
              </a:spcAft>
              <a:buClr>
                <a:schemeClr val="dk1"/>
              </a:buClr>
              <a:buSzPts val="3400"/>
              <a:buFont typeface="Calibri"/>
              <a:buAutoNum type="arabicPeriod"/>
            </a:pPr>
            <a:r>
              <a:rPr b="0" i="0" lang="en-US" sz="3400" u="none" cap="none" strike="noStrike">
                <a:solidFill>
                  <a:schemeClr val="dk1"/>
                </a:solidFill>
                <a:latin typeface="Calibri"/>
                <a:ea typeface="Calibri"/>
                <a:cs typeface="Calibri"/>
                <a:sym typeface="Calibri"/>
              </a:rPr>
              <a:t>I don’t want to go to the movie because I feel tired </a:t>
            </a:r>
            <a:endParaRPr/>
          </a:p>
          <a:p>
            <a:pPr indent="0" lvl="0" marL="0" marR="0" rtl="0" algn="l">
              <a:spcBef>
                <a:spcPts val="0"/>
              </a:spcBef>
              <a:spcAft>
                <a:spcPts val="0"/>
              </a:spcAft>
              <a:buNone/>
            </a:pPr>
            <a:r>
              <a:rPr b="0" i="0" lang="en-US" sz="3400" u="none" cap="none" strike="noStrike">
                <a:solidFill>
                  <a:schemeClr val="dk1"/>
                </a:solidFill>
                <a:latin typeface="Calibri"/>
                <a:ea typeface="Calibri"/>
                <a:cs typeface="Calibri"/>
                <a:sym typeface="Calibri"/>
              </a:rPr>
              <a:t>after studying at school.</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3. Although she tried very hard, she couldn’t get high score </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for the exam. </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4. My wife loves cats but she doesn’t want to have one in </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our house. </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5. I will not talk to her though she makes up after our argument.</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6. Unless you come with me, I won’t go to the party tonight. </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7. John said nothing when his teacher asked him to answer </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the question.  </a:t>
            </a:r>
            <a:endParaRPr/>
          </a:p>
          <a:p>
            <a:pPr indent="-127000" lvl="0" marL="342900" marR="0" rtl="0" algn="l">
              <a:spcBef>
                <a:spcPts val="0"/>
              </a:spcBef>
              <a:spcAft>
                <a:spcPts val="0"/>
              </a:spcAft>
              <a:buClr>
                <a:schemeClr val="dk1"/>
              </a:buClr>
              <a:buSzPts val="3400"/>
              <a:buFont typeface="Calibri"/>
              <a:buNone/>
            </a:pPr>
            <a:r>
              <a:t/>
            </a:r>
            <a:endParaRPr sz="34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6"/>
          <p:cNvSpPr txBox="1"/>
          <p:nvPr/>
        </p:nvSpPr>
        <p:spPr>
          <a:xfrm>
            <a:off x="498764" y="688769"/>
            <a:ext cx="11393504" cy="32316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400">
                <a:solidFill>
                  <a:schemeClr val="dk1"/>
                </a:solidFill>
                <a:latin typeface="Calibri"/>
                <a:ea typeface="Calibri"/>
                <a:cs typeface="Calibri"/>
                <a:sym typeface="Calibri"/>
              </a:rPr>
              <a:t>8. When he appeard on the stage, the audience gave him </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a big applause. </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9. Because the security guard slept, the thief entered the house</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and took all of the money. </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10. Whenever she watches that movie, it reminds her of her </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childhood. </a:t>
            </a:r>
            <a:endParaRPr sz="34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17"/>
          <p:cNvPicPr preferRelativeResize="0"/>
          <p:nvPr/>
        </p:nvPicPr>
        <p:blipFill rotWithShape="1">
          <a:blip r:embed="rId3">
            <a:alphaModFix/>
          </a:blip>
          <a:srcRect b="0" l="0" r="0" t="0"/>
          <a:stretch/>
        </p:blipFill>
        <p:spPr>
          <a:xfrm>
            <a:off x="287832" y="239426"/>
            <a:ext cx="11269584" cy="63112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8"/>
          <p:cNvSpPr txBox="1"/>
          <p:nvPr/>
        </p:nvSpPr>
        <p:spPr>
          <a:xfrm>
            <a:off x="314956" y="302359"/>
            <a:ext cx="11562088" cy="65556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400">
                <a:solidFill>
                  <a:schemeClr val="dk1"/>
                </a:solidFill>
                <a:latin typeface="Calibri"/>
                <a:ea typeface="Calibri"/>
                <a:cs typeface="Calibri"/>
                <a:sym typeface="Calibri"/>
              </a:rPr>
              <a:t>11. Before you go the beach, remember to apply suncreen </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and bring a hat.</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12. I always try my best to study in order that I can get </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a better job in the future. </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13. Whenever I have money, I will spend on clothes and food.</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14. </a:t>
            </a:r>
            <a:r>
              <a:rPr lang="en-US" sz="3600">
                <a:solidFill>
                  <a:schemeClr val="dk1"/>
                </a:solidFill>
                <a:latin typeface="Calibri"/>
                <a:ea typeface="Calibri"/>
                <a:cs typeface="Calibri"/>
                <a:sym typeface="Calibri"/>
              </a:rPr>
              <a:t>After I graduate from university, I am going to apply for a job.</a:t>
            </a:r>
            <a:endParaRPr/>
          </a:p>
          <a:p>
            <a:pPr indent="0" lvl="0" marL="0" marR="0" rtl="0" algn="l">
              <a:spcBef>
                <a:spcPts val="0"/>
              </a:spcBef>
              <a:spcAft>
                <a:spcPts val="0"/>
              </a:spcAft>
              <a:buNone/>
            </a:pPr>
            <a:r>
              <a:rPr lang="en-US" sz="3600">
                <a:solidFill>
                  <a:schemeClr val="dk1"/>
                </a:solidFill>
                <a:latin typeface="Calibri"/>
                <a:ea typeface="Calibri"/>
                <a:cs typeface="Calibri"/>
                <a:sym typeface="Calibri"/>
              </a:rPr>
              <a:t>15. Due to the terrible weather, we can’t go to the beach today.</a:t>
            </a:r>
            <a:endParaRPr/>
          </a:p>
          <a:p>
            <a:pPr indent="0" lvl="0" marL="0" marR="0" rtl="0" algn="l">
              <a:spcBef>
                <a:spcPts val="0"/>
              </a:spcBef>
              <a:spcAft>
                <a:spcPts val="0"/>
              </a:spcAft>
              <a:buNone/>
            </a:pPr>
            <a:r>
              <a:rPr lang="en-US" sz="3600">
                <a:solidFill>
                  <a:schemeClr val="dk1"/>
                </a:solidFill>
                <a:latin typeface="Calibri"/>
                <a:ea typeface="Calibri"/>
                <a:cs typeface="Calibri"/>
                <a:sym typeface="Calibri"/>
              </a:rPr>
              <a:t>16. In case it rains, I will bring an umbrella.</a:t>
            </a:r>
            <a:endParaRPr/>
          </a:p>
          <a:p>
            <a:pPr indent="0" lvl="0" marL="0" marR="0" rtl="0" algn="l">
              <a:spcBef>
                <a:spcPts val="0"/>
              </a:spcBef>
              <a:spcAft>
                <a:spcPts val="0"/>
              </a:spcAft>
              <a:buNone/>
            </a:pPr>
            <a:r>
              <a:t/>
            </a:r>
            <a:endParaRPr sz="36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34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9"/>
          <p:cNvSpPr txBox="1"/>
          <p:nvPr/>
        </p:nvSpPr>
        <p:spPr>
          <a:xfrm>
            <a:off x="602721" y="766732"/>
            <a:ext cx="11149567" cy="375487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400">
                <a:solidFill>
                  <a:schemeClr val="dk1"/>
                </a:solidFill>
                <a:latin typeface="Calibri"/>
                <a:ea typeface="Calibri"/>
                <a:cs typeface="Calibri"/>
                <a:sym typeface="Calibri"/>
              </a:rPr>
              <a:t>17. As soon as the exam is over, I will have a holiday with </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my family.</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18. Lina listens to music whenever she has free time.</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19. My parents were very happy when I graduated from </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the university.</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20. Many children do not want to sleep alone because</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they are afraid of the dark.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20"/>
          <p:cNvPicPr preferRelativeResize="0"/>
          <p:nvPr/>
        </p:nvPicPr>
        <p:blipFill rotWithShape="1">
          <a:blip r:embed="rId3">
            <a:alphaModFix/>
          </a:blip>
          <a:srcRect b="0" l="0" r="0" t="0"/>
          <a:stretch/>
        </p:blipFill>
        <p:spPr>
          <a:xfrm>
            <a:off x="747947" y="783236"/>
            <a:ext cx="10696106" cy="529152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1"/>
          <p:cNvSpPr/>
          <p:nvPr/>
        </p:nvSpPr>
        <p:spPr>
          <a:xfrm>
            <a:off x="499672" y="673840"/>
            <a:ext cx="11057744" cy="480131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3400">
                <a:solidFill>
                  <a:schemeClr val="dk1"/>
                </a:solidFill>
                <a:latin typeface="Calibri"/>
                <a:ea typeface="Calibri"/>
                <a:cs typeface="Calibri"/>
                <a:sym typeface="Calibri"/>
              </a:rPr>
              <a:t>21. I will not get married until I am 26 years old.</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22. As soon as the weather gets better, we will go to </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the beach.</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23. My friends studied very hard so they passed the exam.</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24. Whenver I feel tired, I will take a rest.</a:t>
            </a:r>
            <a:endParaRPr/>
          </a:p>
          <a:p>
            <a:pPr indent="0" lvl="0" marL="0" marR="0" rtl="0" algn="l">
              <a:spcBef>
                <a:spcPts val="0"/>
              </a:spcBef>
              <a:spcAft>
                <a:spcPts val="0"/>
              </a:spcAft>
              <a:buNone/>
            </a:pPr>
            <a:r>
              <a:rPr lang="en-US" sz="3400">
                <a:solidFill>
                  <a:schemeClr val="dk1"/>
                </a:solidFill>
                <a:latin typeface="Calibri"/>
                <a:ea typeface="Calibri"/>
                <a:cs typeface="Calibri"/>
                <a:sym typeface="Calibri"/>
              </a:rPr>
              <a:t>25. If only I had a lot of money, I could buy a new house.</a:t>
            </a:r>
            <a:endParaRPr/>
          </a:p>
          <a:p>
            <a:pPr indent="0" lvl="0" marL="0" marR="0" rtl="0" algn="l">
              <a:spcBef>
                <a:spcPts val="0"/>
              </a:spcBef>
              <a:spcAft>
                <a:spcPts val="0"/>
              </a:spcAft>
              <a:buNone/>
            </a:pPr>
            <a:r>
              <a:t/>
            </a:r>
            <a:endParaRPr sz="3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34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34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2"/>
          <p:cNvPicPr preferRelativeResize="0"/>
          <p:nvPr/>
        </p:nvPicPr>
        <p:blipFill rotWithShape="1">
          <a:blip r:embed="rId3">
            <a:alphaModFix/>
          </a:blip>
          <a:srcRect b="0" l="0" r="0" t="0"/>
          <a:stretch/>
        </p:blipFill>
        <p:spPr>
          <a:xfrm>
            <a:off x="459839" y="729425"/>
            <a:ext cx="10464800" cy="42819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3"/>
          <p:cNvSpPr/>
          <p:nvPr/>
        </p:nvSpPr>
        <p:spPr>
          <a:xfrm>
            <a:off x="381000" y="215037"/>
            <a:ext cx="11633200" cy="720197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100">
                <a:solidFill>
                  <a:schemeClr val="dk1"/>
                </a:solidFill>
                <a:latin typeface="Cambria"/>
                <a:ea typeface="Cambria"/>
                <a:cs typeface="Cambria"/>
                <a:sym typeface="Cambria"/>
              </a:rPr>
              <a:t>      Our lives have been developed by the Internet and the way we can share information with others around the world so easily</a:t>
            </a:r>
            <a:r>
              <a:rPr lang="en-US" sz="2100">
                <a:solidFill>
                  <a:srgbClr val="7F63A0"/>
                </a:solidFill>
                <a:latin typeface="Cambria"/>
                <a:ea typeface="Cambria"/>
                <a:cs typeface="Cambria"/>
                <a:sym typeface="Cambria"/>
              </a:rPr>
              <a:t>. </a:t>
            </a:r>
            <a:r>
              <a:rPr lang="en-US" sz="2100">
                <a:solidFill>
                  <a:srgbClr val="C00000"/>
                </a:solidFill>
                <a:latin typeface="Cambria"/>
                <a:ea typeface="Cambria"/>
                <a:cs typeface="Cambria"/>
                <a:sym typeface="Cambria"/>
              </a:rPr>
              <a:t>However, a number of problems have emerged as a result of this. </a:t>
            </a:r>
            <a:r>
              <a:rPr lang="en-US" sz="2100">
                <a:solidFill>
                  <a:srgbClr val="7030A0"/>
                </a:solidFill>
                <a:latin typeface="Cambria"/>
                <a:ea typeface="Cambria"/>
                <a:cs typeface="Cambria"/>
                <a:sym typeface="Cambria"/>
              </a:rPr>
              <a:t>This essay will discuss a few of the most significant problems and offer some possible solutions. </a:t>
            </a:r>
            <a:endParaRPr/>
          </a:p>
          <a:p>
            <a:pPr indent="0" lvl="0" marL="0" marR="0" rtl="0" algn="l">
              <a:spcBef>
                <a:spcPts val="0"/>
              </a:spcBef>
              <a:spcAft>
                <a:spcPts val="0"/>
              </a:spcAft>
              <a:buNone/>
            </a:pPr>
            <a:r>
              <a:rPr lang="en-US" sz="2100">
                <a:solidFill>
                  <a:srgbClr val="7030A0"/>
                </a:solidFill>
                <a:latin typeface="Cambria"/>
                <a:ea typeface="Cambria"/>
                <a:cs typeface="Cambria"/>
                <a:sym typeface="Cambria"/>
              </a:rPr>
              <a:t>      </a:t>
            </a:r>
            <a:r>
              <a:rPr lang="en-US" sz="2100">
                <a:solidFill>
                  <a:srgbClr val="C00000"/>
                </a:solidFill>
                <a:latin typeface="Calibri"/>
                <a:ea typeface="Calibri"/>
                <a:cs typeface="Calibri"/>
                <a:sym typeface="Calibri"/>
              </a:rPr>
              <a:t>The first advantage of the Internet is the effective communication</a:t>
            </a:r>
            <a:r>
              <a:rPr lang="en-US" sz="2100">
                <a:solidFill>
                  <a:schemeClr val="dk1"/>
                </a:solidFill>
                <a:latin typeface="Calibri"/>
                <a:ea typeface="Calibri"/>
                <a:cs typeface="Calibri"/>
                <a:sym typeface="Calibri"/>
              </a:rPr>
              <a:t> with people around the world through the world wide web, social media or e-mail. These tools have allowed us to easily communicate and share information. </a:t>
            </a:r>
            <a:r>
              <a:rPr lang="en-US" sz="2100">
                <a:solidFill>
                  <a:srgbClr val="7030A0"/>
                </a:solidFill>
                <a:latin typeface="Calibri"/>
                <a:ea typeface="Calibri"/>
                <a:cs typeface="Calibri"/>
                <a:sym typeface="Calibri"/>
              </a:rPr>
              <a:t>Another advantage is the huge amount of information</a:t>
            </a:r>
            <a:r>
              <a:rPr lang="en-US" sz="2100">
                <a:solidFill>
                  <a:srgbClr val="C00000"/>
                </a:solidFill>
                <a:latin typeface="Calibri"/>
                <a:ea typeface="Calibri"/>
                <a:cs typeface="Calibri"/>
                <a:sym typeface="Calibri"/>
              </a:rPr>
              <a:t> </a:t>
            </a:r>
            <a:r>
              <a:rPr lang="en-US" sz="2100">
                <a:solidFill>
                  <a:schemeClr val="dk1"/>
                </a:solidFill>
                <a:latin typeface="Calibri"/>
                <a:ea typeface="Calibri"/>
                <a:cs typeface="Calibri"/>
                <a:sym typeface="Calibri"/>
              </a:rPr>
              <a:t>that help us widen our knowledge by using searching engines, websites dedicated to different subjects. </a:t>
            </a:r>
            <a:endParaRPr/>
          </a:p>
          <a:p>
            <a:pPr indent="0" lvl="0" marL="0" marR="0" rtl="0" algn="l">
              <a:spcBef>
                <a:spcPts val="0"/>
              </a:spcBef>
              <a:spcAft>
                <a:spcPts val="0"/>
              </a:spcAft>
              <a:buNone/>
            </a:pPr>
            <a:r>
              <a:rPr lang="en-US" sz="2100">
                <a:solidFill>
                  <a:srgbClr val="0070C0"/>
                </a:solidFill>
                <a:latin typeface="Cambria"/>
                <a:ea typeface="Cambria"/>
                <a:cs typeface="Cambria"/>
                <a:sym typeface="Cambria"/>
              </a:rPr>
              <a:t>      However, </a:t>
            </a:r>
            <a:r>
              <a:rPr lang="en-US" sz="2100">
                <a:solidFill>
                  <a:schemeClr val="dk1"/>
                </a:solidFill>
                <a:latin typeface="Cambria"/>
                <a:ea typeface="Cambria"/>
                <a:cs typeface="Cambria"/>
                <a:sym typeface="Cambria"/>
              </a:rPr>
              <a:t>there are a number of issues that have been created through widespread use of the internet. </a:t>
            </a:r>
            <a:r>
              <a:rPr lang="en-US" sz="2100">
                <a:solidFill>
                  <a:srgbClr val="C00000"/>
                </a:solidFill>
                <a:latin typeface="Cambria"/>
                <a:ea typeface="Cambria"/>
                <a:cs typeface="Cambria"/>
                <a:sym typeface="Cambria"/>
              </a:rPr>
              <a:t>One of the biggest issues is the way it is used by cyber-bullies. </a:t>
            </a:r>
            <a:r>
              <a:rPr lang="en-US" sz="2100">
                <a:solidFill>
                  <a:schemeClr val="dk1"/>
                </a:solidFill>
                <a:latin typeface="Cambria"/>
                <a:ea typeface="Cambria"/>
                <a:cs typeface="Cambria"/>
                <a:sym typeface="Cambria"/>
              </a:rPr>
              <a:t>They post private or false information about people and verbally abuse them, which can have serious consequences, even suicide.</a:t>
            </a:r>
            <a:r>
              <a:rPr lang="en-US" sz="2100">
                <a:solidFill>
                  <a:srgbClr val="3366FF"/>
                </a:solidFill>
                <a:latin typeface="Cambria"/>
                <a:ea typeface="Cambria"/>
                <a:cs typeface="Cambria"/>
                <a:sym typeface="Cambria"/>
              </a:rPr>
              <a:t> </a:t>
            </a:r>
            <a:r>
              <a:rPr lang="en-US" sz="2100">
                <a:solidFill>
                  <a:srgbClr val="7030A0"/>
                </a:solidFill>
                <a:latin typeface="Cambria"/>
                <a:ea typeface="Cambria"/>
                <a:cs typeface="Cambria"/>
                <a:sym typeface="Cambria"/>
              </a:rPr>
              <a:t>One solution could be to educate people </a:t>
            </a:r>
            <a:r>
              <a:rPr lang="en-US" sz="2100">
                <a:solidFill>
                  <a:schemeClr val="dk1"/>
                </a:solidFill>
                <a:latin typeface="Cambria"/>
                <a:ea typeface="Cambria"/>
                <a:cs typeface="Cambria"/>
                <a:sym typeface="Cambria"/>
              </a:rPr>
              <a:t>about the correct and appropriate use of the internet. The education should focus on cyber-bullying and the drastic consequences it can have for the victims.</a:t>
            </a:r>
            <a:r>
              <a:rPr lang="en-US" sz="21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2100">
                <a:solidFill>
                  <a:srgbClr val="C00000"/>
                </a:solidFill>
                <a:latin typeface="Cambria"/>
                <a:ea typeface="Cambria"/>
                <a:cs typeface="Cambria"/>
                <a:sym typeface="Cambria"/>
              </a:rPr>
              <a:t>      Another major problem is the individual privacy. </a:t>
            </a:r>
            <a:r>
              <a:rPr lang="en-US" sz="2100">
                <a:solidFill>
                  <a:schemeClr val="dk1"/>
                </a:solidFill>
                <a:latin typeface="Cambria"/>
                <a:ea typeface="Cambria"/>
                <a:cs typeface="Cambria"/>
                <a:sym typeface="Cambria"/>
              </a:rPr>
              <a:t>People’s personal and even financial information can sometimes be shared, leading to theft and fraud. </a:t>
            </a:r>
            <a:r>
              <a:rPr lang="en-US" sz="2100">
                <a:solidFill>
                  <a:srgbClr val="7030A0"/>
                </a:solidFill>
                <a:latin typeface="Cambria"/>
                <a:ea typeface="Cambria"/>
                <a:cs typeface="Cambria"/>
                <a:sym typeface="Cambria"/>
              </a:rPr>
              <a:t>There should be software and laws </a:t>
            </a:r>
            <a:r>
              <a:rPr lang="en-US" sz="2100">
                <a:solidFill>
                  <a:schemeClr val="dk1"/>
                </a:solidFill>
                <a:latin typeface="Cambria"/>
                <a:ea typeface="Cambria"/>
                <a:cs typeface="Cambria"/>
                <a:sym typeface="Cambria"/>
              </a:rPr>
              <a:t>in place to protect people’s private data. People should know that they cannot simply steal people’s online identity and data. </a:t>
            </a:r>
            <a:r>
              <a:rPr lang="en-US" sz="2100">
                <a:solidFill>
                  <a:srgbClr val="7030A0"/>
                </a:solidFill>
                <a:latin typeface="Cambria"/>
                <a:ea typeface="Cambria"/>
                <a:cs typeface="Cambria"/>
                <a:sym typeface="Cambria"/>
              </a:rPr>
              <a:t>In addition</a:t>
            </a:r>
            <a:r>
              <a:rPr lang="en-US" sz="2100">
                <a:solidFill>
                  <a:schemeClr val="dk1"/>
                </a:solidFill>
                <a:latin typeface="Cambria"/>
                <a:ea typeface="Cambria"/>
                <a:cs typeface="Cambria"/>
                <a:sym typeface="Cambria"/>
              </a:rPr>
              <a:t>, </a:t>
            </a:r>
            <a:r>
              <a:rPr lang="en-US" sz="2100">
                <a:solidFill>
                  <a:srgbClr val="7030A0"/>
                </a:solidFill>
                <a:latin typeface="Cambria"/>
                <a:ea typeface="Cambria"/>
                <a:cs typeface="Cambria"/>
                <a:sym typeface="Cambria"/>
              </a:rPr>
              <a:t>we should create our passwords carefully </a:t>
            </a:r>
            <a:r>
              <a:rPr lang="en-US" sz="2100">
                <a:solidFill>
                  <a:schemeClr val="dk1"/>
                </a:solidFill>
                <a:latin typeface="Cambria"/>
                <a:ea typeface="Cambria"/>
                <a:cs typeface="Cambria"/>
                <a:sym typeface="Cambria"/>
              </a:rPr>
              <a:t>to avoid hackers stealing our private information. </a:t>
            </a:r>
            <a:endParaRPr sz="2100">
              <a:solidFill>
                <a:schemeClr val="dk1"/>
              </a:solidFill>
              <a:latin typeface="Calibri"/>
              <a:ea typeface="Calibri"/>
              <a:cs typeface="Calibri"/>
              <a:sym typeface="Calibri"/>
            </a:endParaRPr>
          </a:p>
          <a:p>
            <a:pPr indent="0" lvl="0" marL="0" marR="0" rtl="0" algn="l">
              <a:spcBef>
                <a:spcPts val="0"/>
              </a:spcBef>
              <a:spcAft>
                <a:spcPts val="0"/>
              </a:spcAft>
              <a:buNone/>
            </a:pPr>
            <a:r>
              <a:rPr lang="en-US" sz="2100">
                <a:solidFill>
                  <a:srgbClr val="007F00"/>
                </a:solidFill>
                <a:latin typeface="Cambria"/>
                <a:ea typeface="Cambria"/>
                <a:cs typeface="Cambria"/>
                <a:sym typeface="Cambria"/>
              </a:rPr>
              <a:t>      </a:t>
            </a:r>
            <a:r>
              <a:rPr lang="en-US" sz="2100">
                <a:solidFill>
                  <a:srgbClr val="0070C0"/>
                </a:solidFill>
                <a:latin typeface="Cambria"/>
                <a:ea typeface="Cambria"/>
                <a:cs typeface="Cambria"/>
                <a:sym typeface="Cambria"/>
              </a:rPr>
              <a:t>In conclusion,</a:t>
            </a:r>
            <a:r>
              <a:rPr lang="en-US" sz="2100">
                <a:solidFill>
                  <a:srgbClr val="007F00"/>
                </a:solidFill>
                <a:latin typeface="Cambria"/>
                <a:ea typeface="Cambria"/>
                <a:cs typeface="Cambria"/>
                <a:sym typeface="Cambria"/>
              </a:rPr>
              <a:t> </a:t>
            </a:r>
            <a:r>
              <a:rPr lang="en-US" sz="2100">
                <a:solidFill>
                  <a:schemeClr val="dk1"/>
                </a:solidFill>
                <a:latin typeface="Cambria"/>
                <a:ea typeface="Cambria"/>
                <a:cs typeface="Cambria"/>
                <a:sym typeface="Cambria"/>
              </a:rPr>
              <a:t>the internet can be a dangerous tool if it is not managed correctly. </a:t>
            </a:r>
            <a:r>
              <a:rPr lang="en-US" sz="2100">
                <a:solidFill>
                  <a:srgbClr val="7030A0"/>
                </a:solidFill>
                <a:latin typeface="Cambria"/>
                <a:ea typeface="Cambria"/>
                <a:cs typeface="Cambria"/>
                <a:sym typeface="Cambria"/>
              </a:rPr>
              <a:t>However, if it is used in the proper way it can be an incredible resource for everyone.</a:t>
            </a:r>
            <a:r>
              <a:rPr lang="en-US" sz="2100">
                <a:solidFill>
                  <a:srgbClr val="7030A0"/>
                </a:solidFill>
                <a:latin typeface="Calibri"/>
                <a:ea typeface="Calibri"/>
                <a:cs typeface="Calibri"/>
                <a:sym typeface="Calibri"/>
              </a:rPr>
              <a:t> </a:t>
            </a:r>
            <a:endParaRPr/>
          </a:p>
          <a:p>
            <a:pPr indent="0" lvl="0" marL="0" marR="0" rtl="0" algn="l">
              <a:spcBef>
                <a:spcPts val="0"/>
              </a:spcBef>
              <a:spcAft>
                <a:spcPts val="0"/>
              </a:spcAft>
              <a:buNone/>
            </a:pPr>
            <a:r>
              <a:t/>
            </a:r>
            <a:endParaRPr sz="21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100">
              <a:solidFill>
                <a:srgbClr val="7030A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24"/>
          <p:cNvPicPr preferRelativeResize="0"/>
          <p:nvPr/>
        </p:nvPicPr>
        <p:blipFill rotWithShape="1">
          <a:blip r:embed="rId3">
            <a:alphaModFix/>
          </a:blip>
          <a:srcRect b="0" l="0" r="0" t="0"/>
          <a:stretch/>
        </p:blipFill>
        <p:spPr>
          <a:xfrm>
            <a:off x="698500" y="819150"/>
            <a:ext cx="10960100" cy="3930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5"/>
          <p:cNvSpPr/>
          <p:nvPr/>
        </p:nvSpPr>
        <p:spPr>
          <a:xfrm>
            <a:off x="355600" y="263436"/>
            <a:ext cx="11633200" cy="6817251"/>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900">
                <a:solidFill>
                  <a:schemeClr val="dk1"/>
                </a:solidFill>
                <a:latin typeface="Cambria"/>
                <a:ea typeface="Cambria"/>
                <a:cs typeface="Cambria"/>
                <a:sym typeface="Cambria"/>
              </a:rPr>
              <a:t>     In the modern era, there is a rising need for people travelling by motorbikes instead of commuting to travel by cars or planes. </a:t>
            </a:r>
            <a:r>
              <a:rPr lang="en-US" sz="1900">
                <a:solidFill>
                  <a:srgbClr val="7030A0"/>
                </a:solidFill>
                <a:latin typeface="Cambria"/>
                <a:ea typeface="Cambria"/>
                <a:cs typeface="Cambria"/>
                <a:sym typeface="Cambria"/>
              </a:rPr>
              <a:t>It can be seen that there are several advantages and disadvantages of this phenomenon/ trend. </a:t>
            </a:r>
            <a:endParaRPr/>
          </a:p>
          <a:p>
            <a:pPr indent="0" lvl="0" marL="0" marR="0" rtl="0" algn="l">
              <a:spcBef>
                <a:spcPts val="0"/>
              </a:spcBef>
              <a:spcAft>
                <a:spcPts val="0"/>
              </a:spcAft>
              <a:buNone/>
            </a:pPr>
            <a:r>
              <a:rPr lang="en-US" sz="1900">
                <a:solidFill>
                  <a:srgbClr val="C00000"/>
                </a:solidFill>
                <a:latin typeface="Calibri"/>
                <a:ea typeface="Calibri"/>
                <a:cs typeface="Calibri"/>
                <a:sym typeface="Calibri"/>
              </a:rPr>
              <a:t>     The first advantage of riding a motorbike to travel is its mobility on the route. </a:t>
            </a:r>
            <a:r>
              <a:rPr lang="en-US" sz="1900">
                <a:solidFill>
                  <a:schemeClr val="dk1"/>
                </a:solidFill>
                <a:latin typeface="Calibri"/>
                <a:ea typeface="Calibri"/>
                <a:cs typeface="Calibri"/>
                <a:sym typeface="Calibri"/>
              </a:rPr>
              <a:t>It allows us to get to our destination even if it’s a place that is very difficult to access, which cars or planes cannot reach. Moreover, we can choose our own daily schedule, do not have to pay attention to transport schedules,  and visit a place at our own pace.</a:t>
            </a:r>
            <a:r>
              <a:rPr lang="en-US" sz="1900">
                <a:solidFill>
                  <a:srgbClr val="7030A0"/>
                </a:solidFill>
                <a:latin typeface="Cambria"/>
                <a:ea typeface="Cambria"/>
                <a:cs typeface="Cambria"/>
                <a:sym typeface="Cambria"/>
              </a:rPr>
              <a:t> </a:t>
            </a:r>
            <a:endParaRPr/>
          </a:p>
          <a:p>
            <a:pPr indent="0" lvl="0" marL="0" marR="0" rtl="0" algn="l">
              <a:spcBef>
                <a:spcPts val="0"/>
              </a:spcBef>
              <a:spcAft>
                <a:spcPts val="0"/>
              </a:spcAft>
              <a:buNone/>
            </a:pPr>
            <a:r>
              <a:rPr lang="en-US" sz="1900">
                <a:solidFill>
                  <a:srgbClr val="C00000"/>
                </a:solidFill>
                <a:latin typeface="Calibri"/>
                <a:ea typeface="Calibri"/>
                <a:cs typeface="Calibri"/>
                <a:sym typeface="Calibri"/>
              </a:rPr>
              <a:t>     Another advantage of travelling by motorbikes is the financial saving. </a:t>
            </a:r>
            <a:r>
              <a:rPr lang="en-US" sz="1900">
                <a:solidFill>
                  <a:schemeClr val="dk1"/>
                </a:solidFill>
                <a:latin typeface="Calibri"/>
                <a:ea typeface="Calibri"/>
                <a:cs typeface="Calibri"/>
                <a:sym typeface="Calibri"/>
              </a:rPr>
              <a:t>If we travel by cars or planes, we must pay higher amount of money for the cost of petrol, the regular maintenance fee, taxes and flight tickets. These fee are much more expensive than those of a motorbike. </a:t>
            </a:r>
            <a:endParaRPr/>
          </a:p>
          <a:p>
            <a:pPr indent="0" lvl="0" marL="0" marR="0" rtl="0" algn="l">
              <a:spcBef>
                <a:spcPts val="0"/>
              </a:spcBef>
              <a:spcAft>
                <a:spcPts val="0"/>
              </a:spcAft>
              <a:buNone/>
            </a:pPr>
            <a:r>
              <a:rPr lang="en-US" sz="1900">
                <a:solidFill>
                  <a:srgbClr val="0070C0"/>
                </a:solidFill>
                <a:latin typeface="Cambria"/>
                <a:ea typeface="Cambria"/>
                <a:cs typeface="Cambria"/>
                <a:sym typeface="Cambria"/>
              </a:rPr>
              <a:t>     However, there are</a:t>
            </a:r>
            <a:r>
              <a:rPr lang="en-US" sz="1900">
                <a:solidFill>
                  <a:srgbClr val="0070C0"/>
                </a:solidFill>
                <a:latin typeface="Calibri"/>
                <a:ea typeface="Calibri"/>
                <a:cs typeface="Calibri"/>
                <a:sym typeface="Calibri"/>
              </a:rPr>
              <a:t> some disadvantages with travelling by motorbikes.</a:t>
            </a:r>
            <a:r>
              <a:rPr lang="en-US" sz="1900">
                <a:solidFill>
                  <a:schemeClr val="dk1"/>
                </a:solidFill>
                <a:latin typeface="Calibri"/>
                <a:ea typeface="Calibri"/>
                <a:cs typeface="Calibri"/>
                <a:sym typeface="Calibri"/>
              </a:rPr>
              <a:t> </a:t>
            </a:r>
            <a:r>
              <a:rPr lang="en-US" sz="1900">
                <a:solidFill>
                  <a:srgbClr val="C00000"/>
                </a:solidFill>
                <a:latin typeface="Calibri"/>
                <a:ea typeface="Calibri"/>
                <a:cs typeface="Calibri"/>
                <a:sym typeface="Calibri"/>
              </a:rPr>
              <a:t>The first drawback of riding a motorbike to travel is its inconvenient conditions. </a:t>
            </a:r>
            <a:r>
              <a:rPr lang="en-US" sz="1900">
                <a:solidFill>
                  <a:schemeClr val="dk1"/>
                </a:solidFill>
                <a:latin typeface="Calibri"/>
                <a:ea typeface="Calibri"/>
                <a:cs typeface="Calibri"/>
                <a:sym typeface="Calibri"/>
              </a:rPr>
              <a:t>To be more specific, it does not have air conditioning and a windshield wiper to help us feel comfortable and not be affected by harsh weather conditions. </a:t>
            </a:r>
            <a:r>
              <a:rPr lang="en-US" sz="1900">
                <a:solidFill>
                  <a:srgbClr val="7030A0"/>
                </a:solidFill>
                <a:latin typeface="Calibri"/>
                <a:ea typeface="Calibri"/>
                <a:cs typeface="Calibri"/>
                <a:sym typeface="Calibri"/>
              </a:rPr>
              <a:t>In addition, </a:t>
            </a:r>
            <a:r>
              <a:rPr lang="en-US" sz="1900">
                <a:solidFill>
                  <a:schemeClr val="dk1"/>
                </a:solidFill>
                <a:latin typeface="Calibri"/>
                <a:ea typeface="Calibri"/>
                <a:cs typeface="Calibri"/>
                <a:sym typeface="Calibri"/>
              </a:rPr>
              <a:t>we cannot carry three or more people, luggage and many things when using a motorbike. Therefore, having limited space to sit and carry things can sometimes cause inconveniences to travel.</a:t>
            </a:r>
            <a:endParaRPr/>
          </a:p>
          <a:p>
            <a:pPr indent="0" lvl="0" marL="0" marR="0" rtl="0" algn="l">
              <a:spcBef>
                <a:spcPts val="0"/>
              </a:spcBef>
              <a:spcAft>
                <a:spcPts val="0"/>
              </a:spcAft>
              <a:buNone/>
            </a:pPr>
            <a:r>
              <a:rPr lang="en-US" sz="1900">
                <a:solidFill>
                  <a:srgbClr val="C00000"/>
                </a:solidFill>
                <a:latin typeface="Cambria"/>
                <a:ea typeface="Cambria"/>
                <a:cs typeface="Cambria"/>
                <a:sym typeface="Cambria"/>
              </a:rPr>
              <a:t>     Another disadvantage of having a holiday by motorbikes is the unsafety on the journey</a:t>
            </a:r>
            <a:r>
              <a:rPr lang="en-US" sz="1900">
                <a:solidFill>
                  <a:srgbClr val="0070C0"/>
                </a:solidFill>
                <a:latin typeface="Cambria"/>
                <a:ea typeface="Cambria"/>
                <a:cs typeface="Cambria"/>
                <a:sym typeface="Cambria"/>
              </a:rPr>
              <a:t>. </a:t>
            </a:r>
            <a:r>
              <a:rPr lang="en-US" sz="1900">
                <a:solidFill>
                  <a:schemeClr val="dk1"/>
                </a:solidFill>
                <a:latin typeface="Cambria"/>
                <a:ea typeface="Cambria"/>
                <a:cs typeface="Cambria"/>
                <a:sym typeface="Cambria"/>
              </a:rPr>
              <a:t>Particularly, we are</a:t>
            </a:r>
            <a:r>
              <a:rPr lang="en-US" sz="1900">
                <a:solidFill>
                  <a:srgbClr val="0070C0"/>
                </a:solidFill>
                <a:latin typeface="Cambria"/>
                <a:ea typeface="Cambria"/>
                <a:cs typeface="Cambria"/>
                <a:sym typeface="Cambria"/>
              </a:rPr>
              <a:t> </a:t>
            </a:r>
            <a:r>
              <a:rPr lang="en-US" sz="1900">
                <a:solidFill>
                  <a:schemeClr val="dk1"/>
                </a:solidFill>
                <a:latin typeface="Calibri"/>
                <a:ea typeface="Calibri"/>
                <a:cs typeface="Calibri"/>
                <a:sym typeface="Calibri"/>
              </a:rPr>
              <a:t>securer when protected by the metal layer of the tires and security systems in cars or planes. </a:t>
            </a:r>
            <a:r>
              <a:rPr lang="en-US" sz="1900">
                <a:solidFill>
                  <a:srgbClr val="7030A0"/>
                </a:solidFill>
                <a:latin typeface="Calibri"/>
                <a:ea typeface="Calibri"/>
                <a:cs typeface="Calibri"/>
                <a:sym typeface="Calibri"/>
              </a:rPr>
              <a:t>In addition</a:t>
            </a:r>
            <a:r>
              <a:rPr lang="en-US" sz="1900">
                <a:solidFill>
                  <a:schemeClr val="dk1"/>
                </a:solidFill>
                <a:latin typeface="Calibri"/>
                <a:ea typeface="Calibri"/>
                <a:cs typeface="Calibri"/>
                <a:sym typeface="Calibri"/>
              </a:rPr>
              <a:t>, fatigue is also caused for concern. Driving a motorbike to travel in a long distance can cause tiredness and distraction while driving.</a:t>
            </a:r>
            <a:endParaRPr sz="1900">
              <a:solidFill>
                <a:schemeClr val="dk1"/>
              </a:solidFill>
              <a:latin typeface="Calibri"/>
              <a:ea typeface="Calibri"/>
              <a:cs typeface="Calibri"/>
              <a:sym typeface="Calibri"/>
            </a:endParaRPr>
          </a:p>
          <a:p>
            <a:pPr indent="0" lvl="0" marL="0" marR="0" rtl="0" algn="l">
              <a:spcBef>
                <a:spcPts val="0"/>
              </a:spcBef>
              <a:spcAft>
                <a:spcPts val="0"/>
              </a:spcAft>
              <a:buNone/>
            </a:pPr>
            <a:r>
              <a:rPr lang="en-US" sz="1900">
                <a:solidFill>
                  <a:srgbClr val="007F00"/>
                </a:solidFill>
                <a:latin typeface="Cambria"/>
                <a:ea typeface="Cambria"/>
                <a:cs typeface="Cambria"/>
                <a:sym typeface="Cambria"/>
              </a:rPr>
              <a:t>     In conclusion, </a:t>
            </a:r>
            <a:r>
              <a:rPr lang="en-US" sz="1900">
                <a:solidFill>
                  <a:schemeClr val="dk1"/>
                </a:solidFill>
                <a:latin typeface="Cambria"/>
                <a:ea typeface="Cambria"/>
                <a:cs typeface="Cambria"/>
                <a:sym typeface="Cambria"/>
              </a:rPr>
              <a:t>although there are some</a:t>
            </a:r>
            <a:r>
              <a:rPr lang="en-US" sz="1900">
                <a:solidFill>
                  <a:schemeClr val="dk1"/>
                </a:solidFill>
                <a:latin typeface="Calibri"/>
                <a:ea typeface="Calibri"/>
                <a:cs typeface="Calibri"/>
                <a:sym typeface="Calibri"/>
              </a:rPr>
              <a:t> benefits of travelling by motorbikes, it can also bring many threats to human life compared to cars and planes. Any type of vehicle has different advantages and disadvantages during its usage, as is the case with motorbikes. We should consider the needs, financial capacity and other factors to choose the suitable means of transport for travelling. </a:t>
            </a:r>
            <a:endParaRPr/>
          </a:p>
          <a:p>
            <a:pPr indent="0" lvl="0" marL="0" marR="0" rtl="0" algn="l">
              <a:spcBef>
                <a:spcPts val="0"/>
              </a:spcBef>
              <a:spcAft>
                <a:spcPts val="0"/>
              </a:spcAft>
              <a:buNone/>
            </a:pPr>
            <a:r>
              <a:t/>
            </a:r>
            <a:endParaRPr sz="1900">
              <a:solidFill>
                <a:srgbClr val="7030A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id="149" name="Google Shape;149;p26"/>
          <p:cNvPicPr preferRelativeResize="0"/>
          <p:nvPr/>
        </p:nvPicPr>
        <p:blipFill rotWithShape="1">
          <a:blip r:embed="rId3">
            <a:alphaModFix/>
          </a:blip>
          <a:srcRect b="0" l="0" r="0" t="0"/>
          <a:stretch/>
        </p:blipFill>
        <p:spPr>
          <a:xfrm>
            <a:off x="581025" y="1225550"/>
            <a:ext cx="11029950" cy="3575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p:nvPr/>
        </p:nvSpPr>
        <p:spPr>
          <a:xfrm>
            <a:off x="355600" y="263436"/>
            <a:ext cx="11633200" cy="6186309"/>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mbria"/>
                <a:ea typeface="Cambria"/>
                <a:cs typeface="Cambria"/>
                <a:sym typeface="Cambria"/>
              </a:rPr>
              <a:t>     </a:t>
            </a:r>
            <a:r>
              <a:rPr lang="en-US" sz="1800">
                <a:solidFill>
                  <a:schemeClr val="dk1"/>
                </a:solidFill>
                <a:latin typeface="Calibri"/>
                <a:ea typeface="Calibri"/>
                <a:cs typeface="Calibri"/>
                <a:sym typeface="Calibri"/>
              </a:rPr>
              <a:t>With the development of technology, more and more robots and machines are used in various fields. </a:t>
            </a:r>
            <a:r>
              <a:rPr lang="en-US" sz="1800">
                <a:solidFill>
                  <a:srgbClr val="7030A0"/>
                </a:solidFill>
                <a:latin typeface="Calibri"/>
                <a:ea typeface="Calibri"/>
                <a:cs typeface="Calibri"/>
                <a:sym typeface="Calibri"/>
              </a:rPr>
              <a:t>Many people hold the opinion that machines will replace humans in the future. On the other hand, other people have a conflicting view that machines can’t do many of the jobs that humans do today. </a:t>
            </a:r>
            <a:r>
              <a:rPr lang="en-US" sz="1800">
                <a:solidFill>
                  <a:srgbClr val="C00000"/>
                </a:solidFill>
                <a:latin typeface="Calibri"/>
                <a:ea typeface="Calibri"/>
                <a:cs typeface="Calibri"/>
                <a:sym typeface="Calibri"/>
              </a:rPr>
              <a:t>I totally agree that machines can’t replace humans. </a:t>
            </a:r>
            <a:endParaRPr sz="1800">
              <a:solidFill>
                <a:srgbClr val="7030A0"/>
              </a:solidFill>
              <a:latin typeface="Cambria"/>
              <a:ea typeface="Cambria"/>
              <a:cs typeface="Cambria"/>
              <a:sym typeface="Cambria"/>
            </a:endParaRPr>
          </a:p>
          <a:p>
            <a:pPr indent="0" lvl="0" marL="0" marR="0" rtl="0" algn="l">
              <a:spcBef>
                <a:spcPts val="0"/>
              </a:spcBef>
              <a:spcAft>
                <a:spcPts val="0"/>
              </a:spcAft>
              <a:buNone/>
            </a:pPr>
            <a:r>
              <a:rPr lang="en-US" sz="1800">
                <a:solidFill>
                  <a:srgbClr val="C00000"/>
                </a:solidFill>
                <a:latin typeface="Calibri"/>
                <a:ea typeface="Calibri"/>
                <a:cs typeface="Calibri"/>
                <a:sym typeface="Calibri"/>
              </a:rPr>
              <a:t>     </a:t>
            </a:r>
            <a:r>
              <a:rPr lang="en-US" sz="1800">
                <a:solidFill>
                  <a:schemeClr val="dk1"/>
                </a:solidFill>
                <a:latin typeface="Calibri"/>
                <a:ea typeface="Calibri"/>
                <a:cs typeface="Calibri"/>
                <a:sym typeface="Calibri"/>
              </a:rPr>
              <a:t>Machines have more advantages that over humans in many aspects. </a:t>
            </a:r>
            <a:r>
              <a:rPr lang="en-US" sz="1800">
                <a:solidFill>
                  <a:srgbClr val="C00000"/>
                </a:solidFill>
                <a:latin typeface="Calibri"/>
                <a:ea typeface="Calibri"/>
                <a:cs typeface="Calibri"/>
                <a:sym typeface="Calibri"/>
              </a:rPr>
              <a:t>Firstly, automation is expected to increase the efficiency and productivity in working conditions especially in manual labor</a:t>
            </a:r>
            <a:r>
              <a:rPr lang="en-US" sz="1800">
                <a:solidFill>
                  <a:schemeClr val="dk1"/>
                </a:solidFill>
                <a:latin typeface="Calibri"/>
                <a:ea typeface="Calibri"/>
                <a:cs typeface="Calibri"/>
                <a:sym typeface="Calibri"/>
              </a:rPr>
              <a:t>. This is because jobs that involve manipulating small objects can be easily and rapidly performed by robots and machines. They also can implement a wide variety of tasks successfully in a record time compared to human performance. </a:t>
            </a:r>
            <a:r>
              <a:rPr lang="en-US" sz="1800">
                <a:solidFill>
                  <a:srgbClr val="0070C0"/>
                </a:solidFill>
                <a:latin typeface="Calibri"/>
                <a:ea typeface="Calibri"/>
                <a:cs typeface="Calibri"/>
                <a:sym typeface="Calibri"/>
              </a:rPr>
              <a:t>Secondly, machines have played an important role in the safety at workplaces</a:t>
            </a:r>
            <a:r>
              <a:rPr lang="en-US" sz="1800">
                <a:solidFill>
                  <a:schemeClr val="dk1"/>
                </a:solidFill>
                <a:latin typeface="Calibri"/>
                <a:ea typeface="Calibri"/>
                <a:cs typeface="Calibri"/>
                <a:sym typeface="Calibri"/>
              </a:rPr>
              <a:t>. Particularly, there are so many high-risk fields that machines can replace laborers and workers, who are facing hard and perilous working conditions in factories or constructive sites. Therefore, machines can increase safety because it could be a serious issue if a laborer is injured while working on an unsecure job.</a:t>
            </a:r>
            <a:endParaRPr sz="1800">
              <a:solidFill>
                <a:srgbClr val="7030A0"/>
              </a:solidFill>
              <a:latin typeface="Cambria"/>
              <a:ea typeface="Cambria"/>
              <a:cs typeface="Cambria"/>
              <a:sym typeface="Cambria"/>
            </a:endParaRPr>
          </a:p>
          <a:p>
            <a:pPr indent="0" lvl="0" marL="0" marR="0" rtl="0" algn="l">
              <a:spcBef>
                <a:spcPts val="0"/>
              </a:spcBef>
              <a:spcAft>
                <a:spcPts val="0"/>
              </a:spcAft>
              <a:buNone/>
            </a:pPr>
            <a:r>
              <a:rPr lang="en-US" sz="1800">
                <a:solidFill>
                  <a:srgbClr val="C00000"/>
                </a:solidFill>
                <a:latin typeface="Calibri"/>
                <a:ea typeface="Calibri"/>
                <a:cs typeface="Calibri"/>
                <a:sym typeface="Calibri"/>
              </a:rPr>
              <a:t>     However, there are some strengths and skills that machines cannot perform compared to human beings including </a:t>
            </a:r>
            <a:r>
              <a:rPr lang="en-US" sz="1800">
                <a:solidFill>
                  <a:srgbClr val="0070C0"/>
                </a:solidFill>
                <a:latin typeface="Calibri"/>
                <a:ea typeface="Calibri"/>
                <a:cs typeface="Calibri"/>
                <a:sym typeface="Calibri"/>
              </a:rPr>
              <a:t>creativity, imagination </a:t>
            </a:r>
            <a:r>
              <a:rPr lang="en-US" sz="1800">
                <a:solidFill>
                  <a:srgbClr val="7030A0"/>
                </a:solidFill>
                <a:latin typeface="Calibri"/>
                <a:ea typeface="Calibri"/>
                <a:cs typeface="Calibri"/>
                <a:sym typeface="Calibri"/>
              </a:rPr>
              <a:t>and social skills</a:t>
            </a:r>
            <a:r>
              <a:rPr lang="en-US" sz="1800">
                <a:solidFill>
                  <a:schemeClr val="dk1"/>
                </a:solidFill>
                <a:latin typeface="Calibri"/>
                <a:ea typeface="Calibri"/>
                <a:cs typeface="Calibri"/>
                <a:sym typeface="Calibri"/>
              </a:rPr>
              <a:t>. </a:t>
            </a:r>
            <a:r>
              <a:rPr lang="en-US" sz="1800">
                <a:solidFill>
                  <a:srgbClr val="0070C0"/>
                </a:solidFill>
                <a:latin typeface="Calibri"/>
                <a:ea typeface="Calibri"/>
                <a:cs typeface="Calibri"/>
                <a:sym typeface="Calibri"/>
              </a:rPr>
              <a:t>Firstly</a:t>
            </a:r>
            <a:r>
              <a:rPr lang="en-US" sz="1800">
                <a:solidFill>
                  <a:schemeClr val="dk1"/>
                </a:solidFill>
                <a:latin typeface="Calibri"/>
                <a:ea typeface="Calibri"/>
                <a:cs typeface="Calibri"/>
                <a:sym typeface="Calibri"/>
              </a:rPr>
              <a:t>, </a:t>
            </a:r>
            <a:r>
              <a:rPr lang="en-US" sz="1800">
                <a:solidFill>
                  <a:srgbClr val="0070C0"/>
                </a:solidFill>
                <a:latin typeface="Calibri"/>
                <a:ea typeface="Calibri"/>
                <a:cs typeface="Calibri"/>
                <a:sym typeface="Calibri"/>
              </a:rPr>
              <a:t>machines are not capable of the same level of creativity and imagination as humans, and even if they were, some tasks are better performed by people rather than machines. </a:t>
            </a:r>
            <a:r>
              <a:rPr lang="en-US" sz="1800">
                <a:solidFill>
                  <a:schemeClr val="dk1"/>
                </a:solidFill>
                <a:latin typeface="Calibri"/>
                <a:ea typeface="Calibri"/>
                <a:cs typeface="Calibri"/>
                <a:sym typeface="Calibri"/>
              </a:rPr>
              <a:t>To be more specific, they cannot think independently from what they have been programmed to do. In addition, a machine cannot be able to take specific decisions when there is an issue like people can. </a:t>
            </a:r>
            <a:endParaRPr/>
          </a:p>
          <a:p>
            <a:pPr indent="0" lvl="0" marL="0" marR="0" rtl="0" algn="l">
              <a:spcBef>
                <a:spcPts val="0"/>
              </a:spcBef>
              <a:spcAft>
                <a:spcPts val="0"/>
              </a:spcAft>
              <a:buNone/>
            </a:pPr>
            <a:r>
              <a:rPr lang="en-US" sz="1800">
                <a:solidFill>
                  <a:srgbClr val="7030A0"/>
                </a:solidFill>
                <a:latin typeface="Cambria"/>
                <a:ea typeface="Cambria"/>
                <a:cs typeface="Cambria"/>
                <a:sym typeface="Cambria"/>
              </a:rPr>
              <a:t>     Secondly,</a:t>
            </a:r>
            <a:r>
              <a:rPr lang="en-US" sz="1800">
                <a:solidFill>
                  <a:srgbClr val="0070C0"/>
                </a:solidFill>
                <a:latin typeface="Cambria"/>
                <a:ea typeface="Cambria"/>
                <a:cs typeface="Cambria"/>
                <a:sym typeface="Cambria"/>
              </a:rPr>
              <a:t> </a:t>
            </a:r>
            <a:r>
              <a:rPr lang="en-US" sz="1800">
                <a:solidFill>
                  <a:srgbClr val="7030A0"/>
                </a:solidFill>
                <a:latin typeface="Cambria"/>
                <a:ea typeface="Cambria"/>
                <a:cs typeface="Cambria"/>
                <a:sym typeface="Cambria"/>
              </a:rPr>
              <a:t>machines can’t have the ability of solving unexpected problems in social situations and interact with other workers. </a:t>
            </a:r>
            <a:r>
              <a:rPr lang="en-US" sz="1800">
                <a:solidFill>
                  <a:schemeClr val="dk1"/>
                </a:solidFill>
                <a:latin typeface="Cambria"/>
                <a:ea typeface="Cambria"/>
                <a:cs typeface="Cambria"/>
                <a:sym typeface="Cambria"/>
              </a:rPr>
              <a:t>For instance, they can’t discuss or express their ideas in a meeting and negotiate with customers about an issue at the working environment. Moreover, they don’t have connections with other people and take responsibility at work compared to humans.</a:t>
            </a:r>
            <a:r>
              <a:rPr lang="en-US" sz="1800">
                <a:solidFill>
                  <a:srgbClr val="C00000"/>
                </a:solidFill>
                <a:latin typeface="Cambria"/>
                <a:ea typeface="Cambria"/>
                <a:cs typeface="Cambria"/>
                <a:sym typeface="Cambria"/>
              </a:rPr>
              <a:t> </a:t>
            </a:r>
            <a:endParaRPr/>
          </a:p>
          <a:p>
            <a:pPr indent="0" lvl="0" marL="0" marR="0" rtl="0" algn="l">
              <a:spcBef>
                <a:spcPts val="0"/>
              </a:spcBef>
              <a:spcAft>
                <a:spcPts val="0"/>
              </a:spcAft>
              <a:buNone/>
            </a:pPr>
            <a:r>
              <a:rPr lang="en-US" sz="1800">
                <a:solidFill>
                  <a:srgbClr val="C00000"/>
                </a:solidFill>
                <a:latin typeface="Cambria"/>
                <a:ea typeface="Cambria"/>
                <a:cs typeface="Cambria"/>
                <a:sym typeface="Cambria"/>
              </a:rPr>
              <a:t>     </a:t>
            </a:r>
            <a:r>
              <a:rPr lang="en-US" sz="1800">
                <a:solidFill>
                  <a:srgbClr val="007F00"/>
                </a:solidFill>
                <a:latin typeface="Cambria"/>
                <a:ea typeface="Cambria"/>
                <a:cs typeface="Cambria"/>
                <a:sym typeface="Cambria"/>
              </a:rPr>
              <a:t>In conclusion,/ </a:t>
            </a:r>
            <a:r>
              <a:rPr lang="en-US" sz="1800">
                <a:solidFill>
                  <a:srgbClr val="548135"/>
                </a:solidFill>
                <a:latin typeface="Cambria"/>
                <a:ea typeface="Cambria"/>
                <a:cs typeface="Cambria"/>
                <a:sym typeface="Cambria"/>
              </a:rPr>
              <a:t>T</a:t>
            </a:r>
            <a:r>
              <a:rPr lang="en-US" sz="1800">
                <a:solidFill>
                  <a:srgbClr val="548135"/>
                </a:solidFill>
                <a:latin typeface="Calibri"/>
                <a:ea typeface="Calibri"/>
                <a:cs typeface="Calibri"/>
                <a:sym typeface="Calibri"/>
              </a:rPr>
              <a:t>o sum it all up</a:t>
            </a:r>
            <a:r>
              <a:rPr lang="en-US" sz="1800">
                <a:solidFill>
                  <a:schemeClr val="dk1"/>
                </a:solidFill>
                <a:latin typeface="Calibri"/>
                <a:ea typeface="Calibri"/>
                <a:cs typeface="Calibri"/>
                <a:sym typeface="Calibri"/>
              </a:rPr>
              <a:t>, it is personally disagreed that machines can take human beings places in working conditions. Furthermore, it is better to manufacture machines to assist workers in achieving their tasks successfully rather than replacing them.</a:t>
            </a:r>
            <a:endParaRPr sz="1800">
              <a:solidFill>
                <a:srgbClr val="7030A0"/>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28"/>
          <p:cNvPicPr preferRelativeResize="0"/>
          <p:nvPr/>
        </p:nvPicPr>
        <p:blipFill rotWithShape="1">
          <a:blip r:embed="rId3">
            <a:alphaModFix/>
          </a:blip>
          <a:srcRect b="0" l="0" r="0" t="0"/>
          <a:stretch/>
        </p:blipFill>
        <p:spPr>
          <a:xfrm>
            <a:off x="508000" y="863600"/>
            <a:ext cx="11176000" cy="45339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9"/>
          <p:cNvSpPr/>
          <p:nvPr/>
        </p:nvSpPr>
        <p:spPr>
          <a:xfrm>
            <a:off x="355600" y="263436"/>
            <a:ext cx="11633200" cy="652486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200">
                <a:solidFill>
                  <a:schemeClr val="dk1"/>
                </a:solidFill>
                <a:latin typeface="Cambria"/>
                <a:ea typeface="Cambria"/>
                <a:cs typeface="Cambria"/>
                <a:sym typeface="Cambria"/>
              </a:rPr>
              <a:t>     </a:t>
            </a:r>
            <a:r>
              <a:rPr lang="en-US" sz="2200">
                <a:solidFill>
                  <a:schemeClr val="dk1"/>
                </a:solidFill>
                <a:latin typeface="Calibri"/>
                <a:ea typeface="Calibri"/>
                <a:cs typeface="Calibri"/>
                <a:sym typeface="Calibri"/>
              </a:rPr>
              <a:t>Leisure time is necessary for people after working and studying hard especially in the rapid development of the society. </a:t>
            </a:r>
            <a:r>
              <a:rPr lang="en-US" sz="2200">
                <a:solidFill>
                  <a:srgbClr val="C00000"/>
                </a:solidFill>
                <a:latin typeface="Calibri"/>
                <a:ea typeface="Calibri"/>
                <a:cs typeface="Calibri"/>
                <a:sym typeface="Calibri"/>
              </a:rPr>
              <a:t>I personally spend my free time to do both mental and physical activities. </a:t>
            </a:r>
            <a:endParaRPr/>
          </a:p>
          <a:p>
            <a:pPr indent="0" lvl="0" marL="0" marR="0" rtl="0" algn="l">
              <a:spcBef>
                <a:spcPts val="0"/>
              </a:spcBef>
              <a:spcAft>
                <a:spcPts val="0"/>
              </a:spcAft>
              <a:buNone/>
            </a:pPr>
            <a:r>
              <a:rPr lang="en-US" sz="2200">
                <a:solidFill>
                  <a:srgbClr val="C00000"/>
                </a:solidFill>
                <a:latin typeface="Calibri"/>
                <a:ea typeface="Calibri"/>
                <a:cs typeface="Calibri"/>
                <a:sym typeface="Calibri"/>
              </a:rPr>
              <a:t>     There are two categories that I spend my leisure time including mental and physical activities. </a:t>
            </a:r>
            <a:r>
              <a:rPr lang="en-US" sz="2200">
                <a:solidFill>
                  <a:srgbClr val="0070C0"/>
                </a:solidFill>
                <a:latin typeface="Calibri"/>
                <a:ea typeface="Calibri"/>
                <a:cs typeface="Calibri"/>
                <a:sym typeface="Calibri"/>
              </a:rPr>
              <a:t>In term of mental activities, it is better for me to read books, newspapers, write letters, visit a library, attend a play or play games such as chess or puzzles. </a:t>
            </a:r>
            <a:r>
              <a:rPr lang="en-US" sz="2200">
                <a:solidFill>
                  <a:schemeClr val="dk1"/>
                </a:solidFill>
                <a:latin typeface="Calibri"/>
                <a:ea typeface="Calibri"/>
                <a:cs typeface="Calibri"/>
                <a:sym typeface="Calibri"/>
              </a:rPr>
              <a:t>These activities are all simple and can contribute to a healthier brain. I enjoy reading books in my free time because they help me expand my knowledge. Moreover, I am also keen on playing chess with my sister at home. These activities help me relax and release stress after a long day at work and school.</a:t>
            </a:r>
            <a:endParaRPr sz="2200">
              <a:solidFill>
                <a:srgbClr val="7030A0"/>
              </a:solidFill>
              <a:latin typeface="Cambria"/>
              <a:ea typeface="Cambria"/>
              <a:cs typeface="Cambria"/>
              <a:sym typeface="Cambria"/>
            </a:endParaRPr>
          </a:p>
          <a:p>
            <a:pPr indent="0" lvl="0" marL="0" marR="0" rtl="0" algn="l">
              <a:spcBef>
                <a:spcPts val="0"/>
              </a:spcBef>
              <a:spcAft>
                <a:spcPts val="0"/>
              </a:spcAft>
              <a:buNone/>
            </a:pPr>
            <a:r>
              <a:rPr lang="en-US" sz="2200">
                <a:solidFill>
                  <a:srgbClr val="C00000"/>
                </a:solidFill>
                <a:latin typeface="Calibri"/>
                <a:ea typeface="Calibri"/>
                <a:cs typeface="Calibri"/>
                <a:sym typeface="Calibri"/>
              </a:rPr>
              <a:t>     </a:t>
            </a:r>
            <a:r>
              <a:rPr lang="en-US" sz="2200">
                <a:solidFill>
                  <a:srgbClr val="00B050"/>
                </a:solidFill>
                <a:latin typeface="Calibri"/>
                <a:ea typeface="Calibri"/>
                <a:cs typeface="Calibri"/>
                <a:sym typeface="Calibri"/>
              </a:rPr>
              <a:t>Another kind of free time activities that I often do when I have time is physical activities. </a:t>
            </a:r>
            <a:r>
              <a:rPr lang="en-US" sz="2200">
                <a:solidFill>
                  <a:srgbClr val="7030A0"/>
                </a:solidFill>
                <a:latin typeface="Calibri"/>
                <a:ea typeface="Calibri"/>
                <a:cs typeface="Calibri"/>
                <a:sym typeface="Calibri"/>
              </a:rPr>
              <a:t>Playing sports</a:t>
            </a:r>
            <a:r>
              <a:rPr lang="en-US" sz="2200">
                <a:solidFill>
                  <a:srgbClr val="0070C0"/>
                </a:solidFill>
                <a:latin typeface="Calibri"/>
                <a:ea typeface="Calibri"/>
                <a:cs typeface="Calibri"/>
                <a:sym typeface="Calibri"/>
              </a:rPr>
              <a:t> </a:t>
            </a:r>
            <a:r>
              <a:rPr lang="en-US" sz="2200">
                <a:solidFill>
                  <a:schemeClr val="dk1"/>
                </a:solidFill>
                <a:latin typeface="Calibri"/>
                <a:ea typeface="Calibri"/>
                <a:cs typeface="Calibri"/>
                <a:sym typeface="Calibri"/>
              </a:rPr>
              <a:t>such as football, volleyball or swimming is one of the interesting ways for me to improve my health and strengthen relationships with my teammates. In addition, I also </a:t>
            </a:r>
            <a:r>
              <a:rPr lang="en-US" sz="2200">
                <a:solidFill>
                  <a:srgbClr val="7030A0"/>
                </a:solidFill>
                <a:latin typeface="Calibri"/>
                <a:ea typeface="Calibri"/>
                <a:cs typeface="Calibri"/>
                <a:sym typeface="Calibri"/>
              </a:rPr>
              <a:t>go camping or have a picnic </a:t>
            </a:r>
            <a:r>
              <a:rPr lang="en-US" sz="2200">
                <a:solidFill>
                  <a:schemeClr val="dk1"/>
                </a:solidFill>
                <a:latin typeface="Calibri"/>
                <a:ea typeface="Calibri"/>
                <a:cs typeface="Calibri"/>
                <a:sym typeface="Calibri"/>
              </a:rPr>
              <a:t>at the park near my house with my family at the weekend. At that time, we can enjoy our food and drinks, share about our working and school life with each other. These moments with our friends and beloved ones are unforgettable and precious.</a:t>
            </a:r>
            <a:endParaRPr/>
          </a:p>
          <a:p>
            <a:pPr indent="0" lvl="0" marL="0" marR="0" rtl="0" algn="l">
              <a:spcBef>
                <a:spcPts val="0"/>
              </a:spcBef>
              <a:spcAft>
                <a:spcPts val="0"/>
              </a:spcAft>
              <a:buNone/>
            </a:pPr>
            <a:r>
              <a:rPr lang="en-US" sz="2200">
                <a:solidFill>
                  <a:srgbClr val="0070C0"/>
                </a:solidFill>
                <a:latin typeface="Cambria"/>
                <a:ea typeface="Cambria"/>
                <a:cs typeface="Cambria"/>
                <a:sym typeface="Cambria"/>
              </a:rPr>
              <a:t>     In conclusion,</a:t>
            </a:r>
            <a:r>
              <a:rPr lang="en-US" sz="2200">
                <a:solidFill>
                  <a:schemeClr val="dk1"/>
                </a:solidFill>
                <a:latin typeface="Calibri"/>
                <a:ea typeface="Calibri"/>
                <a:cs typeface="Calibri"/>
                <a:sym typeface="Calibri"/>
              </a:rPr>
              <a:t> doing leisure activities can help us improve our health and enhance our relationships with our surrounding people. Personally, participating in outside and inside pursuits is the best way for me to maintain my both metal and physical health in the limited amount of time. </a:t>
            </a:r>
            <a:endParaRPr/>
          </a:p>
          <a:p>
            <a:pPr indent="0" lvl="0" marL="0" marR="0" rtl="0" algn="l">
              <a:spcBef>
                <a:spcPts val="0"/>
              </a:spcBef>
              <a:spcAft>
                <a:spcPts val="0"/>
              </a:spcAft>
              <a:buNone/>
            </a:pPr>
            <a:r>
              <a:t/>
            </a:r>
            <a:endParaRPr sz="2200">
              <a:solidFill>
                <a:srgbClr val="7030A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